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3A5F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Negative
(1-2 ⭐)</c:v>
                  </c:pt>
                  <c:pt idx="1">
                    <c:v>Positive
(4-5 ⭐)</c:v>
                  </c:pt>
                  <c:pt idx="2">
                    <c:v>Neutral
(3 ⭐)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14350</c:v>
                </c:pt>
                <c:pt idx="1">
                  <c:v>5820</c:v>
                </c:pt>
                <c:pt idx="2">
                  <c:v>885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1" i="0" u="none" strike="noStrike">
                <a:solidFill>
                  <a:srgbClr val="1E3A5F"/>
                </a:solidFill>
                <a:latin typeface="Arial"/>
              </a:rPr>
              <a:t>Model Performance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F1-Score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 SVM</c:v>
                  </c:pt>
                  <c:pt idx="1">
                    <c:v>Logistic Reg.</c:v>
                  </c:pt>
                  <c:pt idx="2">
                    <c:v>Gradient Boost.</c:v>
                  </c:pt>
                  <c:pt idx="3">
                    <c:v>Multinomial NB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0.6235</c:v>
                </c:pt>
                <c:pt idx="1">
                  <c:v>0.6065</c:v>
                </c:pt>
                <c:pt idx="2">
                  <c:v>0.5886</c:v>
                </c:pt>
                <c:pt idx="3">
                  <c:v>0.5235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 SVM</c:v>
                  </c:pt>
                  <c:pt idx="1">
                    <c:v>Logistic Reg.</c:v>
                  </c:pt>
                  <c:pt idx="2">
                    <c:v>Gradient Boost.</c:v>
                  </c:pt>
                  <c:pt idx="3">
                    <c:v>Multinomial NB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</c:v>
                </c:pt>
                <c:pt idx="1">
                  <c:v>0.9</c:v>
                </c:pt>
                <c:pt idx="2">
                  <c:v>0.86</c:v>
                </c:pt>
                <c:pt idx="3">
                  <c:v>0.79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00400"/>
            <a:ext cx="1828800" cy="18288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😊 😐 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TF-IDF and Machine Learning Classifiers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Adithya (253314, GIS)  •  Gayathri (253019, CSDA)  •  Vishnumaya (253013, CSDA)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Amazon Reviews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84048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TF-IDF + Chi-Square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384048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 SVM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932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Problem Statement &amp; Motivation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Dataset Description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Methodology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Text Preprocessing &amp; Feature Extraction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493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Feature Correlation Heatmap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14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Model Training &amp; Comparison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14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932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Results &amp; Evaluation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554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Top Discriminating Features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19456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194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Streamlit App Demo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83464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App — Negative &amp; Neutral Predictions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74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493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App — Positive Prediction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411480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114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BAE6FD"/>
                </a:solidFill>
              </a:rPr>
              <a:t>Classify Amazon customer reviews into Positive, Neutral, and Negative sentiments using traditional Machine Learning — without deep learning black-boxes.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Interpretability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Understand which linguistic markers (negation, punctuation) drive sentiment — not just the output label.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Efficiency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Traditional ML on TF-IDF runs fast with low compute cost, making it production-friendly.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Business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Enables businesses to act on customer feedback at scale — tracking product issues, praise, and neutral reports.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Dataset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📦 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005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Amazon_Reviews.csv — scraped customer reviews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27048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72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📊 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21,214 records 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9397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139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📝  Text Feature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139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Raw review text feedback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60904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066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⭐  Label Feature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066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Star ratings (1-5) mapped to sentiment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2783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73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🔤  Encoding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273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latin1 — handled during preprocessing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0" y="868680"/>
          <a:ext cx="3474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365760" y="4023360"/>
            <a:ext cx="4937760" cy="5486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04164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⚠  Significant class imbalance: Negative = 67.6%, Positive = 27.4%, Neutral = 4.2%  →  Macro F1 prioritized for evaluation.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Methodology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1618488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058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2212848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2697480"/>
            <a:ext cx="1472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Handled latin1 encoding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Removed HTML, URLs, specials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Regex-based normalization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01368" y="2560320"/>
            <a:ext cx="914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2808" y="914400"/>
            <a:ext cx="1618488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10058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84248" y="16916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38528" y="2212848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697480"/>
            <a:ext cx="1472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TF-IDF (5,000 unigrams &amp; bigrams)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Sentence length &amp; word 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Punct density, avg word len, negation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11296" y="2560320"/>
            <a:ext cx="914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2736" y="914400"/>
            <a:ext cx="1618488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5656" y="10058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5656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94176" y="16916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48456" y="2212848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Feature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2697480"/>
            <a:ext cx="1472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Chi-Square (χ²) test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Top 3,000 most significant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features retained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21224" y="2560320"/>
            <a:ext cx="914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12664" y="914400"/>
            <a:ext cx="1618488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5584" y="10058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15584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04104" y="16916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58384" y="2212848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Model Training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85816" y="2697480"/>
            <a:ext cx="1472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Logistic Regression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Multinomial Naive Bayes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Linear SVM, Gradient Boosting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31152" y="2560320"/>
            <a:ext cx="914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22592" y="914400"/>
            <a:ext cx="1618488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25512" y="10058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5512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14032" y="16916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68312" y="2212848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95744" y="2697480"/>
            <a:ext cx="1472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Macro F1-Score (primary)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Per-class precision-recall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Accuracy across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Text Preprocessing &amp; Feature Extraction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Preprocessing Pipeline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Lowercase all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856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Remove URLs, @mentions, #hashtags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3865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Strip punctuation &amp; digits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916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Remove extra whitespace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447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Neutral keyword detection (rule-based)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</a:rPr>
              <a:t>Feature Extraction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325880"/>
            <a:ext cx="64008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62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TF-IDF Vectorizer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5,000 unigrams &amp; bigrams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sublinear_tf=True, min_df=2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9659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96596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025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Sentence Length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Character count of cleaned 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6060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606040"/>
            <a:ext cx="6400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Avg Word Length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9204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Mean length of all tokens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46120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282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Punct Density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9204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Ratio of punctuation characters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862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886200"/>
            <a:ext cx="6400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922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Negation Flag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9204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Binary: 'not', 'no', 'never', "n't"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Correlation Heatmap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30352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868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06440" y="1280160"/>
            <a:ext cx="32004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06440" y="1280160"/>
            <a:ext cx="6400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sentence_length ↔ word_count  r = 0.99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5910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Near-perfect correlation — near-redundant features (expected).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06440" y="2194560"/>
            <a:ext cx="32004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2194560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avg_word_length ↔ punct_density  r = 0.22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25054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Weak positive — slightly longer words appear with more punctuation.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06440" y="3108960"/>
            <a:ext cx="32004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3108960"/>
            <a:ext cx="6400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negation ↔ word_count  r = 0.33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34198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Longer reviews tend to include negation words more often.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06440" y="4023360"/>
            <a:ext cx="32004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06440" y="4023360"/>
            <a:ext cx="64008" cy="804672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negation ↔ avg_word_length  r = −0.19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43342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Negation words are short, pulling avg word length slightly down.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Model Training &amp;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Detailed Results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25880"/>
          <a:ext cx="338328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Linear SVM 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0.6235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Logistic Reg.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0.6065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Gradient Boost.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0.5886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Multinomial NB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0.5235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3291840"/>
            <a:ext cx="338328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0" y="3364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🏆 Best Model: Linear SVM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669280" y="3749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Macro F1: 0.6235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Accuracy: 90%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Best balance across all sentiment classes.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0116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0.6235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Macro F1-Score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Best — Linear SVM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96012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960120"/>
            <a:ext cx="201168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</a:rPr>
              <a:t>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Global Accuracy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032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Linear SVM &amp; Logistic Reg.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96012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96012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21,214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18304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Samples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Amazon product reviews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96012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8856" y="960120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3,000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94576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Features Selected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94576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Chi-Square χ² reduced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</a:rPr>
              <a:t>Per-Class Performance (Linear SVM)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Class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Precision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Recall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F1-Score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401568"/>
            <a:ext cx="84124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01568"/>
            <a:ext cx="6400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😠 Negative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93%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96%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94%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904488"/>
            <a:ext cx="84124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904488"/>
            <a:ext cx="64008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😊 Positive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0604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88%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0372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86%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407408"/>
            <a:ext cx="6400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😐 Neutral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0604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~30%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5488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~25%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0372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~27%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⚠  Neutral class suffers due to severe under-representation (only 4.2% of data).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Top Discriminating Features per Sentiment Class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3977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😊 Positive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" y="141732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35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  "perfect"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" y="1755648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73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  "amazing"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093976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12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  "excellent"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2432304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505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4.  "great"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2770632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5.  "love"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310896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6.  "fantastic"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3447288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7.  "awesome"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" y="3785616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8.  "highly recommend"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" y="4123944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42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9.  "best quality"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" y="4462272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10.  "5 stars"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914400"/>
            <a:ext cx="2743200" cy="3977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914400"/>
            <a:ext cx="27432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914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😠 Negative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10712" y="141732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1435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  "useless"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10712" y="1755648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1773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  "terrible"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10712" y="2093976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2112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  "horrible"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10712" y="2432304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4505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4.  "worst"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10712" y="2770632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5.  "not work"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10712" y="310896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6.  "broken"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10712" y="3447288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7.  "waste"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410712" y="3785616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8.  "disappointed"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10712" y="4123944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142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9.  "never again"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410712" y="4462272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10.  "return"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72200" y="914400"/>
            <a:ext cx="2743200" cy="3977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914400"/>
            <a:ext cx="27432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914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😐 Neutral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336792" y="141732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1435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  "arrived"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36792" y="1755648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1773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  "ordered"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36792" y="2093976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2112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  "package"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36792" y="2432304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24505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4.  "received"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36792" y="2770632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5.  "delivered"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36792" y="310896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6.  "purchased"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36792" y="3447288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7.  "item"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36792" y="3785616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8.  "shipment"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336792" y="4123944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4142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9.  "bought"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36792" y="4462272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0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10.  "product"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Chi-Square feature selection identifies the words most statistically associated with each class.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Streamlit App —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1325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813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(Review Text)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72768" y="1536192"/>
            <a:ext cx="12801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0784" y="1005840"/>
            <a:ext cx="1325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0784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00784" y="14813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Text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(Regex)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44952" y="1536192"/>
            <a:ext cx="12801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005840"/>
            <a:ext cx="1325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72968" y="14813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TF-IDF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Transform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17136" y="1536192"/>
            <a:ext cx="12801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1005840"/>
            <a:ext cx="1325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45152" y="14813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Chi-Square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1536192"/>
            <a:ext cx="12801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1005840"/>
            <a:ext cx="1325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17336" y="14813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Linear SVM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Predict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61504" y="1536192"/>
            <a:ext cx="12801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05840"/>
            <a:ext cx="1325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14813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Display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286000"/>
            <a:ext cx="8412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322576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⚡  Shortcut Rule: If the cleaned text contains neutral keywords (arrived, ordered, delivered, received, package, shipment…), the app bypasses the ML model and directly labels the review as 😐 Neutral.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E6FD"/>
                </a:solidFill>
              </a:rPr>
              <a:t>Saved Model Files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364992"/>
            <a:ext cx="41148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📁 sentiment_model.pkl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0604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Trained Linear SVM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776472"/>
            <a:ext cx="41148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📁 tfidf_vectorizer.pkl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0604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Fitted TF-IDF vectorizer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187952"/>
            <a:ext cx="41148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📁 label_encoder.pkl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0604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Class label encoder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599432"/>
            <a:ext cx="41148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36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📁 chi_selector.pkl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606040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Chi-Square feature selector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E6FD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streamlit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3639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pandas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numpy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4187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scikit-learn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54880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nltk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4736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joblib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App Demo — Negative &amp; Neutral Predictions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04672"/>
            <a:ext cx="64008" cy="4160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😠 Negative Prediction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Input: "Worst product ever. Completely useless."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429768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977640"/>
            <a:ext cx="429768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00507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Keywords 'worst' &amp; 'useless' are top negative discriminators → SVM correctly classifies as Negative.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04672"/>
            <a:ext cx="64008" cy="4160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😐 Neutral Prediction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Input: "The package arrived yesterday afternoon."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4297680" cy="23774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63440" y="3977640"/>
            <a:ext cx="429768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400507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Keyword 'package' triggers the rule-based neutral shortcut — model bypassed for speed.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 Demo — Positive Prediction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😊 Positive Prediction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0" y="1417320"/>
            <a:ext cx="32918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</a:rPr>
              <a:t>"I really loved the quality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</a:rPr>
              <a:t>and fast delivery."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Why it worked: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✔  'loved' — top positive discriminator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✔  No neutral keywords → model runs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✔  No negation words present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✔  SVM assigns Positive confidently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App UI Highlights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206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Dark-themed Streamlit interface (background: #f5f7fa overridden)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44348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Color-coded results: green = Positive, red = Negative, blue = Neutral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Text area with placeholder and 180px height for comfortable input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What We Achieved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Linear SVM with TF-IDF achieves 90% accuracy and 0.62 Macro F1 on imbalanced Amazon reviews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Chi-Square feature selection reduced 5,000+ features to 3,000 most significant predictors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615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Custom linguistic features (negation, punctuation density) complement TF-IDF effectively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9125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369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Streamlit app deployed with rule-based neutral detection for production efficiency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1304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Interpretable ML pipeline — businesses can audit which words drive predictions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85232" y="1380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SMOTE / Class Weighting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1655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Address Neutral class imbalance with oversampling or cost-sensitive learning.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057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85232" y="2112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Transformer Fine-tuning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85232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Compare with BERT/DistilBERT for richer semantic understanding.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2926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85232" y="2843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Multi-domain Expansion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85232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Extend to Yelp, Twitter, and product-specific review corpora.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204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3657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85232" y="3575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Aspect-Based Sentiment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85232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Move from document-level to aspect-level (shipping, quality, price).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2519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4389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85232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API Deployment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85232" y="4581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Package as REST API with FastAPI for integration with business dashboards.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😊 😐 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AE6FD"/>
                </a:solidFill>
              </a:rPr>
              <a:t>Sentiment Analysis of Product Reviews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AE6FD"/>
                </a:solidFill>
              </a:rPr>
              <a:t>Using TF-IDF and Machine Learning Classifiers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6400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Adithya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253314 · GIS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Gayathri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253019 · CSDA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Vishnumaya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253013 · CSDA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160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Built with TF-IDF · Chi-Square · Linear SVM · Streamlit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Product Reviews</dc:title>
  <dc:subject>PptxGenJS Presentation</dc:subject>
  <dc:creator>PptxGenJS</dc:creator>
  <cp:lastModifiedBy>PptxGenJS</cp:lastModifiedBy>
  <cp:revision>1</cp:revision>
  <dcterms:created xsi:type="dcterms:W3CDTF">2026-05-16T10:49:29Z</dcterms:created>
  <dcterms:modified xsi:type="dcterms:W3CDTF">2026-05-16T10:49:29Z</dcterms:modified>
</cp:coreProperties>
</file>